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Hello everyone. We are Group 5: Ishank Sharma, Srilalitha Subbaswamy, and Prerana Puttaswamy.</a:t>
            </a:r>
          </a:p>
          <a:p>
            <a:r>
              <a:t>Our project is titled Leader Election Simulator under Crash-Recovery Fault Models.</a:t>
            </a:r>
          </a:p>
          <a:p>
            <a:r>
              <a:t>In this project, we survey classical and modern leader election algorithms and benchmark their performance under controlled crash-recovery scenarios. We also built a working event-driven simulator and implemented Bully, Ring, Raft, and a new Multi-Attribute election mechanism.</a:t>
            </a:r>
          </a:p>
          <a:p>
            <a:r>
              <a:t>Let's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Here is our agenda for this presentation.</a:t>
            </a:r>
          </a:p>
          <a:p>
            <a:r>
              <a:t>We will start with an introduction and the motivation behind studying leader election. Then we will discuss the background and assumptions used by these algorithms.</a:t>
            </a:r>
          </a:p>
          <a:p>
            <a:r>
              <a:t>Next, we will cover our implemented work, our methodology, the architecture of our simulator, the experimental setup, and simulation results.</a:t>
            </a:r>
          </a:p>
          <a:p>
            <a:r>
              <a:t>After that, we will present our analysis, limitations, and future work.</a:t>
            </a:r>
          </a:p>
          <a:p>
            <a:r>
              <a:t>Finally, we will end with a short summary.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project has two major deliverables: a research survey and a benchmarking simulator.</a:t>
            </a:r>
          </a:p>
          <a:p>
            <a:r>
              <a:t>The survey focuses on leader election algorithms specifically designed for crash-recovery environments-settings where nodes may fail and later rejoin.</a:t>
            </a:r>
          </a:p>
          <a:p>
            <a:r>
              <a:t>The benchmark evaluates three well-known algorithms: Bully, Ring, and Raft, plus a new Multi-Attribute algorithm we implemented based on our findings.</a:t>
            </a:r>
          </a:p>
          <a:p>
            <a:r>
              <a:t>We implemented all algorithms in our custom event-driven simulator and evaluated them under realistic conditions including latency jitter, packet loss, and network partitions.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Leader election is essential in distributed systems because it enables coordination, consistency, and synchronization.</a:t>
            </a:r>
          </a:p>
          <a:p>
            <a:r>
              <a:t>In crash-recovery models, the main challenge is that nodes can fail and later restart, causing ambiguity about whether leadership should be retained or revoked.</a:t>
            </a:r>
          </a:p>
          <a:p>
            <a:r>
              <a:t>We also addressed Network Partitions, where the network splits into disconnected groups.</a:t>
            </a:r>
          </a:p>
          <a:p>
            <a:r>
              <a:t>Key considerations include synchrony assumptions, availability of failure detectors, guarantees like liveness and safety, complexity, and the quality of the leader (e.g., choosing a node with better resources).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conducted a survey of recent papers to inform our design.</a:t>
            </a:r>
          </a:p>
          <a:p>
            <a:r>
              <a:t>First, the 2025 paper on Multi-attribute Self-Stabilizing Election proposes using node health metrics like CPU and uptime for leadership, rather than just a static ID. This ensures a "stronger" leader. We used this concept to implement our Multi-Attribute algorithm.</a:t>
            </a:r>
          </a:p>
          <a:p>
            <a:r>
              <a:t>Second, the 2024 Hierarchical Adaptive Election paper addresses scalability. It groups nodes hierarchically to minimize message flooding, which is a major bottleneck we observed in the Bully algorithm.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Continuing our survey:</a:t>
            </a:r>
          </a:p>
          <a:p>
            <a:r>
              <a:t>The 2025 paper on Enhancing Election Algorithms focuses on dynamic timeouts. It suggests adapting timeouts based on network traffic, which validates our implementation of randomized jitter in Raft to prevent split votes.</a:t>
            </a:r>
          </a:p>
          <a:p>
            <a:r>
              <a:t>Finally, the 2022 paper on Knowledge-Free Election explores algorithms where nodes don't know the total cluster size. Our simulator assumes a fixed 10-node cluster, but this research points towards more flexible, open-system designs.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studied and implemented four leader election algorithms:</a:t>
            </a:r>
          </a:p>
          <a:p>
            <a:r>
              <a:t>Bully Algorithm - Prioritizes the node with the highest ID.</a:t>
            </a:r>
          </a:p>
          <a:p>
            <a:r>
              <a:t>Ring Algorithm - Forms a logical ring; very message-efficient but slower.</a:t>
            </a:r>
          </a:p>
          <a:p>
            <a:r>
              <a:t>Raft's Election Mechanism - Modern, balanced, and widely deployed.</a:t>
            </a:r>
          </a:p>
          <a:p>
            <a:r>
              <a:t>Multi-Attribute - A new algorithm we implemented based on our literature survey, which selects leaders based on battery and CPU health rather than just 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implemented work included:</a:t>
            </a:r>
          </a:p>
          <a:p>
            <a:r>
              <a:t>Implementing the Bully, Ring, Raft, and the new Multi-Attribute leader election algorithms.</a:t>
            </a:r>
          </a:p>
          <a:p>
            <a:r>
              <a:t>Creating a standardized test scenario with crashes and network partitions.</a:t>
            </a:r>
          </a:p>
          <a:p>
            <a:r>
              <a:t>Measuring election time, re-election latency, message counts, and success rates using P50/P95 statistics.</a:t>
            </a:r>
          </a:p>
          <a:p>
            <a:r>
              <a:t>Conducting a comparative analysis across all algorithms with multi-seed trials.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To benchmark the algorithms consistently, we used the following methodology:</a:t>
            </a:r>
          </a:p>
          <a:p>
            <a:r>
              <a:t>We built a single-process, event-driven simulator with 10 nodes.</a:t>
            </a:r>
          </a:p>
          <a:p>
            <a:r>
              <a:t>We introduced realistic network conditions: 50ms latency with 10ms jitter and 5% packet loss.</a:t>
            </a:r>
          </a:p>
          <a:p>
            <a:r>
              <a:t>We introduced a crash at 2 seconds, a network partition from 2.5 to 4 seconds, and a restart at 3 seconds.</a:t>
            </a:r>
          </a:p>
          <a:p>
            <a:r>
              <a:t>We ran 5 trials per algorithm to capture P50 and P95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Our simulator includes key components:</a:t>
            </a:r>
          </a:p>
          <a:p>
            <a:r>
              <a:t>Node Module - Implements each algorithm's logic.</a:t>
            </a:r>
          </a:p>
          <a:p>
            <a:r>
              <a:t>Event Scheduler - Manages timed events.</a:t>
            </a:r>
          </a:p>
          <a:p>
            <a:r>
              <a:t>Fault Injector - Simulates crashes and packet loss.</a:t>
            </a:r>
          </a:p>
          <a:p>
            <a:r>
              <a:t>Partition Manager - Handles network partitions.</a:t>
            </a:r>
          </a:p>
          <a:p>
            <a:r>
              <a:t>Message Bus - Models inter-node communication with jitter.</a:t>
            </a:r>
          </a:p>
          <a:p>
            <a:r>
              <a:t>Monitoring System - Collects timing and message statistics.</a:t>
            </a:r>
          </a:p>
          <a:p>
            <a:r>
              <a:t>This modular design allowed us to fairly compare the algorithms.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For our experiments, we used:</a:t>
            </a:r>
          </a:p>
          <a:p>
            <a:r>
              <a:t>10 nodes with 50ms latency and 10ms jitter.</a:t>
            </a:r>
          </a:p>
          <a:p>
            <a:r>
              <a:t>5% packet loss to simulate unreliable networks.</a:t>
            </a:r>
          </a:p>
          <a:p>
            <a:r>
              <a:t>A crash event at 2 seconds.</a:t>
            </a:r>
          </a:p>
          <a:p>
            <a:r>
              <a:t>A critical network partition from 2.5 to 4 seconds, splitting the cluster in half.</a:t>
            </a:r>
          </a:p>
          <a:p>
            <a:r>
              <a:t>A restart event at 3 seconds.</a:t>
            </a:r>
          </a:p>
          <a:p>
            <a:r>
              <a:t>This setup tests resilience under severe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Here are the P50 results from our multi-seed trials:</a:t>
            </a:r>
          </a:p>
          <a:p>
            <a:r>
              <a:t>Bully: Very fast election (0.05s) but high message count (~1168).</a:t>
            </a:r>
          </a:p>
          <a:p>
            <a:r>
              <a:t>Ring: Slowest (2-3s) and failed mostly (1/5) during the network partition.</a:t>
            </a:r>
          </a:p>
          <a:p>
            <a:r>
              <a:t>Raft: Balanced speed, lowest message count (~284), and 100% success rate.</a:t>
            </a:r>
          </a:p>
          <a:p>
            <a:r>
              <a:t>Multi-Attribute: The new algorithm was the FASTEST at re-election (0.73s) and used half the messages of Bully (~573), proving the value of the score-based approach.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This slide visualizes key performance differences:</a:t>
            </a:r>
          </a:p>
          <a:p>
            <a:r>
              <a:t>Our new Multi-Attribute algorithm proved to be the fastest at re-election, beating even the classic Bully algorithm.</a:t>
            </a:r>
          </a:p>
          <a:p>
            <a:r>
              <a:t>Raft remains the most efficient in terms of messages.</a:t>
            </a:r>
          </a:p>
          <a:p>
            <a:r>
              <a:t>In terms of resilience, Raft, Bully, and Multi-Attribute handled partitions well, while Ring failed.</a:t>
            </a:r>
          </a:p>
          <a:p>
            <a:r>
              <a:t>This validates that our proposed Multi-Attribute extension is a significant improvement over classic Bully.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Our main takeaways are:</a:t>
            </a:r>
          </a:p>
          <a:p>
            <a:r>
              <a:t>Bully is fast but chatty.</a:t>
            </a:r>
          </a:p>
          <a:p>
            <a:r>
              <a:t>Ring is fragile.</a:t>
            </a:r>
          </a:p>
          <a:p>
            <a:r>
              <a:t>Raft offers the best balance.</a:t>
            </a:r>
          </a:p>
          <a:p>
            <a:r>
              <a:t>Crucially, our new Multi-Attribute algorithm proved superior to Bully, achieving faster recovery with 50% fewer messages by using score-based bullying instead of ID-based flooding.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Here is how the work was divided:</a:t>
            </a:r>
          </a:p>
          <a:p>
            <a:r>
              <a:t>Ishank: Designed the simulator core, implemented Raft, and added advanced features like Jitter, Packet Loss, and Partitions.</a:t>
            </a:r>
          </a:p>
          <a:p>
            <a:r>
              <a:t>Srilalitha: Built the evaluation framework and managed the comparative testing and results.</a:t>
            </a:r>
          </a:p>
          <a:p>
            <a:r>
              <a:t>Prerana: Implemented crash-recovery logic, Ring repair mechanisms, led the literature review, and implemented the new Multi-Attribute algorithm.</a:t>
            </a:r>
          </a:p>
          <a:p>
            <a:r>
              <a:t>We collaborated closely to ensure all components integrated smoothly.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Prerana</a:t>
            </a:r>
          </a:p>
          <a:p>
            <a:r>
              <a:t>We faced a few challenges:</a:t>
            </a:r>
          </a:p>
          <a:p>
            <a:r>
              <a:t>Handling timing precision with jitter required a robust tick-based mechanism.</a:t>
            </a:r>
          </a:p>
          <a:p>
            <a:r>
              <a:t>The Ring algorithm struggled with partitions; we added repair probes, but it remains a fundamental limitation.</a:t>
            </a:r>
          </a:p>
          <a:p>
            <a:r>
              <a:t>We replaced "magic" leader invalidation with realistic heartbeat-based failure detection.</a:t>
            </a:r>
          </a:p>
          <a:p>
            <a:r>
              <a:t>Multi-seed trials helped us get reliable data despite the randomness.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Srilalitha</a:t>
            </a:r>
          </a:p>
          <a:p>
            <a:r>
              <a:t>We have successfully completed Phase 2, adding jitter, packet loss, partitions, and statistical analysis.</a:t>
            </a:r>
          </a:p>
          <a:p>
            <a:r>
              <a:t>In the future, we could explore:</a:t>
            </a:r>
          </a:p>
          <a:p>
            <a:r>
              <a:t>Byzantine Fault Tolerance to handle malicious nodes.</a:t>
            </a:r>
          </a:p>
          <a:p>
            <a:r>
              <a:t>Scalability testing with hundreds of nodes.</a:t>
            </a:r>
          </a:p>
          <a:p>
            <a:r>
              <a:t>Formal verification to mathematically prove correctness.</a:t>
            </a:r>
          </a:p>
          <a:p>
            <a:r>
              <a:t>And dynamic membership changes.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Ishank</a:t>
            </a:r>
          </a:p>
          <a:p>
            <a:r>
              <a:t>To summarize:</a:t>
            </a:r>
          </a:p>
          <a:p>
            <a:r>
              <a:t>We implemented and benchmarked Bully, Ring, Raft, and our new Multi-Attribute algorithm under realistic conditions.</a:t>
            </a:r>
          </a:p>
          <a:p>
            <a:r>
              <a:t>We found that Raft is the most robust, while our Multi-Attribute algorithm is the fastest and most efficient for re-election.</a:t>
            </a:r>
          </a:p>
          <a:p>
            <a:r>
              <a:t>The result is a comprehensive simulator and a validated new algorithm design.</a:t>
            </a:r>
          </a:p>
          <a:p>
            <a:r>
              <a:t>Thank you for listening. We're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Leader Election Simulator under Crash-Recovery Fault Models</a:t>
            </a:r>
          </a:p>
        </p:txBody>
      </p:sp>
      <p:sp>
        <p:nvSpPr>
          <p:cNvPr id="3" name="Subtitle 2"/>
          <p:cNvSpPr>
            <a:spLocks noGrp="1"/>
          </p:cNvSpPr>
          <p:nvPr>
            <p:ph type="subTitle" idx="1"/>
          </p:nvPr>
        </p:nvSpPr>
        <p:spPr/>
        <p:txBody>
          <a:bodyPr/>
          <a:lstStyle/>
          <a:p>
            <a:r>
              <a:t>Group 5: Ishank Sharma, Srilalitha Subbaswamy, Prerana Puttaswamy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spcAft>
                <a:spcPts val="1000"/>
              </a:spcAft>
              <a:defRPr sz="2000"/>
            </a:pPr>
            <a:r>
              <a:t>* Introduction &amp; Motivation</a:t>
            </a:r>
          </a:p>
          <a:p>
            <a:pPr>
              <a:spcAft>
                <a:spcPts val="1000"/>
              </a:spcAft>
              <a:defRPr sz="2000"/>
            </a:pPr>
            <a:r>
              <a:t>* Background &amp; Assumptions</a:t>
            </a:r>
          </a:p>
          <a:p>
            <a:pPr>
              <a:spcAft>
                <a:spcPts val="1000"/>
              </a:spcAft>
              <a:defRPr sz="2000"/>
            </a:pPr>
            <a:r>
              <a:t>* Implemented Work &amp; Methodology</a:t>
            </a:r>
          </a:p>
          <a:p>
            <a:pPr>
              <a:spcAft>
                <a:spcPts val="1000"/>
              </a:spcAft>
              <a:defRPr sz="2000"/>
            </a:pPr>
            <a:r>
              <a:t>* Simulator Architecture</a:t>
            </a:r>
          </a:p>
          <a:p>
            <a:pPr>
              <a:spcAft>
                <a:spcPts val="1000"/>
              </a:spcAft>
              <a:defRPr sz="2000"/>
            </a:pPr>
            <a:r>
              <a:t>* Experimental Setup (Enhanced)</a:t>
            </a:r>
          </a:p>
          <a:p>
            <a:pPr>
              <a:spcAft>
                <a:spcPts val="1000"/>
              </a:spcAft>
              <a:defRPr sz="2000"/>
            </a:pPr>
            <a:r>
              <a:t>* Simulation Results (P50/P95)</a:t>
            </a:r>
          </a:p>
          <a:p>
            <a:pPr>
              <a:spcAft>
                <a:spcPts val="1000"/>
              </a:spcAft>
              <a:defRPr sz="2000"/>
            </a:pPr>
            <a:r>
              <a:t>* Analysis &amp; Limitations</a:t>
            </a:r>
          </a:p>
          <a:p>
            <a:pPr>
              <a:spcAft>
                <a:spcPts val="1000"/>
              </a:spcAft>
              <a:defRPr sz="2000"/>
            </a:pPr>
            <a:r>
              <a:t>* Future Work &amp;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Description</a:t>
            </a:r>
          </a:p>
        </p:txBody>
      </p:sp>
      <p:sp>
        <p:nvSpPr>
          <p:cNvPr id="3" name="Content Placeholder 2"/>
          <p:cNvSpPr>
            <a:spLocks noGrp="1"/>
          </p:cNvSpPr>
          <p:nvPr>
            <p:ph idx="1"/>
          </p:nvPr>
        </p:nvSpPr>
        <p:spPr/>
        <p:txBody>
          <a:bodyPr/>
          <a:lstStyle/>
          <a:p>
            <a:pPr>
              <a:spcAft>
                <a:spcPts val="1000"/>
              </a:spcAft>
              <a:defRPr sz="2000"/>
            </a:pPr>
            <a:r>
              <a:t>* Deliverables: Research Survey &amp; Benchmarking Simulator</a:t>
            </a:r>
          </a:p>
          <a:p>
            <a:pPr>
              <a:spcAft>
                <a:spcPts val="1000"/>
              </a:spcAft>
              <a:defRPr sz="2000"/>
            </a:pPr>
            <a:r>
              <a:t>* Focus: Crash-Recovery &amp; Network Partition Environments</a:t>
            </a:r>
          </a:p>
          <a:p>
            <a:pPr>
              <a:spcAft>
                <a:spcPts val="1000"/>
              </a:spcAft>
              <a:defRPr sz="2000"/>
            </a:pPr>
            <a:r>
              <a:t>* Algorithms Evaluated:</a:t>
            </a:r>
          </a:p>
          <a:p>
            <a:pPr>
              <a:spcAft>
                <a:spcPts val="1000"/>
              </a:spcAft>
              <a:defRPr sz="2000"/>
            </a:pPr>
            <a:r>
              <a:t>  - Bully (Classic)</a:t>
            </a:r>
          </a:p>
          <a:p>
            <a:pPr>
              <a:spcAft>
                <a:spcPts val="1000"/>
              </a:spcAft>
              <a:defRPr sz="2000"/>
            </a:pPr>
            <a:r>
              <a:t>  - Ring (Token-based)</a:t>
            </a:r>
          </a:p>
          <a:p>
            <a:pPr>
              <a:spcAft>
                <a:spcPts val="1000"/>
              </a:spcAft>
              <a:defRPr sz="2000"/>
            </a:pPr>
            <a:r>
              <a:t>  - Raft (Consensus-based)</a:t>
            </a:r>
          </a:p>
          <a:p>
            <a:pPr>
              <a:spcAft>
                <a:spcPts val="1000"/>
              </a:spcAft>
              <a:defRPr sz="2000"/>
            </a:pPr>
            <a:r>
              <a:t>  - Multi-Attribute (New)</a:t>
            </a:r>
          </a:p>
          <a:p>
            <a:pPr>
              <a:spcAft>
                <a:spcPts val="1000"/>
              </a:spcAft>
              <a:defRPr sz="2000"/>
            </a:pPr>
            <a:r>
              <a:t>* Implementation: Custom event-driven simulator with jitter, packet loss, and partitions.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Content Placeholder 2"/>
          <p:cNvSpPr>
            <a:spLocks noGrp="1"/>
          </p:cNvSpPr>
          <p:nvPr>
            <p:ph idx="1"/>
          </p:nvPr>
        </p:nvSpPr>
        <p:spPr/>
        <p:txBody>
          <a:bodyPr/>
          <a:lstStyle/>
          <a:p>
            <a:pPr>
              <a:spcAft>
                <a:spcPts val="1000"/>
              </a:spcAft>
              <a:defRPr sz="2000"/>
            </a:pPr>
            <a:r>
              <a:t>* Importance: Coordination, Consistency, Synchronization</a:t>
            </a:r>
          </a:p>
          <a:p>
            <a:pPr>
              <a:spcAft>
                <a:spcPts val="1000"/>
              </a:spcAft>
              <a:defRPr sz="2000"/>
            </a:pPr>
            <a:r>
              <a:t>* Challenges in Crash-Recovery:</a:t>
            </a:r>
          </a:p>
          <a:p>
            <a:pPr>
              <a:spcAft>
                <a:spcPts val="1000"/>
              </a:spcAft>
              <a:defRPr sz="2000"/>
            </a:pPr>
            <a:r>
              <a:t>  - Node failures and restarts</a:t>
            </a:r>
          </a:p>
          <a:p>
            <a:pPr>
              <a:spcAft>
                <a:spcPts val="1000"/>
              </a:spcAft>
              <a:defRPr sz="2000"/>
            </a:pPr>
            <a:r>
              <a:t>  - Ambiguity of leadership</a:t>
            </a:r>
          </a:p>
          <a:p>
            <a:pPr>
              <a:spcAft>
                <a:spcPts val="1000"/>
              </a:spcAft>
              <a:defRPr sz="2000"/>
            </a:pPr>
            <a:r>
              <a:t>  - Network Partitions (Split-brain)</a:t>
            </a:r>
          </a:p>
          <a:p>
            <a:pPr>
              <a:spcAft>
                <a:spcPts val="1000"/>
              </a:spcAft>
              <a:defRPr sz="2000"/>
            </a:pPr>
            <a:r>
              <a:t>* Key Considerations:</a:t>
            </a:r>
          </a:p>
          <a:p>
            <a:pPr>
              <a:spcAft>
                <a:spcPts val="1000"/>
              </a:spcAft>
              <a:defRPr sz="2000"/>
            </a:pPr>
            <a:r>
              <a:t>  - Synchrony assumptions</a:t>
            </a:r>
          </a:p>
          <a:p>
            <a:pPr>
              <a:spcAft>
                <a:spcPts val="1000"/>
              </a:spcAft>
              <a:defRPr sz="2000"/>
            </a:pPr>
            <a:r>
              <a:t>  - Failure detection (Heartbeats vs Timeouts)</a:t>
            </a:r>
          </a:p>
          <a:p>
            <a:pPr>
              <a:spcAft>
                <a:spcPts val="1000"/>
              </a:spcAft>
              <a:defRPr sz="2000"/>
            </a:pPr>
            <a:r>
              <a:t>  - Safety &amp; Liveness guarantees</a:t>
            </a:r>
          </a:p>
          <a:p>
            <a:pPr>
              <a:spcAft>
                <a:spcPts val="1000"/>
              </a:spcAft>
              <a:defRPr sz="2000"/>
            </a:pPr>
            <a:r>
              <a:t>  - Message Complexity</a:t>
            </a:r>
          </a:p>
          <a:p>
            <a:pPr>
              <a:spcAft>
                <a:spcPts val="1000"/>
              </a:spcAft>
              <a:defRPr sz="2000"/>
            </a:pPr>
            <a:r>
              <a:t>  - Leader Quality (ID vs Resources)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Survey: Recent Advances (1/2)</a:t>
            </a:r>
          </a:p>
        </p:txBody>
      </p:sp>
      <p:sp>
        <p:nvSpPr>
          <p:cNvPr id="3" name="Content Placeholder 2"/>
          <p:cNvSpPr>
            <a:spLocks noGrp="1"/>
          </p:cNvSpPr>
          <p:nvPr>
            <p:ph idx="1"/>
          </p:nvPr>
        </p:nvSpPr>
        <p:spPr/>
        <p:txBody>
          <a:bodyPr/>
          <a:lstStyle/>
          <a:p>
            <a:pPr>
              <a:spcAft>
                <a:spcPts val="1000"/>
              </a:spcAft>
              <a:defRPr sz="2000"/>
            </a:pPr>
            <a:r>
              <a:t>* Multi-attribute Self-Stabilizing Leader Election (2025)</a:t>
            </a:r>
          </a:p>
          <a:p>
            <a:pPr>
              <a:spcAft>
                <a:spcPts val="1000"/>
              </a:spcAft>
              <a:defRPr sz="2000"/>
            </a:pPr>
            <a:r>
              <a:t>  - Focus: Self-stabilization in arbitrary fault models.</a:t>
            </a:r>
          </a:p>
          <a:p>
            <a:pPr>
              <a:spcAft>
                <a:spcPts val="1000"/>
              </a:spcAft>
              <a:defRPr sz="2000"/>
            </a:pPr>
            <a:r>
              <a:t>  - Key Idea: Uses multiple attributes (CPU, uptime) vs just ID.</a:t>
            </a:r>
          </a:p>
          <a:p>
            <a:pPr>
              <a:spcAft>
                <a:spcPts val="1000"/>
              </a:spcAft>
              <a:defRPr sz="2000"/>
            </a:pPr>
            <a:r>
              <a:t>  - Relevance: Basis for our Multi-Attribute implementation.</a:t>
            </a:r>
          </a:p>
          <a:p>
            <a:pPr>
              <a:spcAft>
                <a:spcPts val="1000"/>
              </a:spcAft>
              <a:defRPr sz="2000"/>
            </a:pPr>
          </a:p>
          <a:p>
            <a:pPr>
              <a:spcAft>
                <a:spcPts val="1000"/>
              </a:spcAft>
              <a:defRPr sz="2000"/>
            </a:pPr>
            <a:r>
              <a:t>* Hierarchical Adaptive Leader Election (2024)</a:t>
            </a:r>
          </a:p>
          <a:p>
            <a:pPr>
              <a:spcAft>
                <a:spcPts val="1000"/>
              </a:spcAft>
              <a:defRPr sz="2000"/>
            </a:pPr>
            <a:r>
              <a:t>  - Focus: Scalability in crash-recovery.</a:t>
            </a:r>
          </a:p>
          <a:p>
            <a:pPr>
              <a:spcAft>
                <a:spcPts val="1000"/>
              </a:spcAft>
              <a:defRPr sz="2000"/>
            </a:pPr>
            <a:r>
              <a:t>  - Key Idea: Hierarchical groups reduce message load.</a:t>
            </a:r>
          </a:p>
          <a:p>
            <a:pPr>
              <a:spcAft>
                <a:spcPts val="1000"/>
              </a:spcAft>
              <a:defRPr sz="2000"/>
            </a:pPr>
            <a:r>
              <a:t>  - Relevance: Highlights limits of flat algorithms (Bully).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Literature Survey: Recent Advances (2/2)</a:t>
            </a:r>
          </a:p>
        </p:txBody>
      </p:sp>
      <p:sp>
        <p:nvSpPr>
          <p:cNvPr id="3" name="Content Placeholder 2"/>
          <p:cNvSpPr>
            <a:spLocks noGrp="1"/>
          </p:cNvSpPr>
          <p:nvPr>
            <p:ph idx="1"/>
          </p:nvPr>
        </p:nvSpPr>
        <p:spPr/>
        <p:txBody>
          <a:bodyPr/>
          <a:lstStyle/>
          <a:p>
            <a:pPr>
              <a:spcAft>
                <a:spcPts val="1000"/>
              </a:spcAft>
              <a:defRPr sz="2000"/>
            </a:pPr>
            <a:r>
              <a:t>* Enhancing Election Algorithms (2025)</a:t>
            </a:r>
          </a:p>
          <a:p>
            <a:pPr>
              <a:spcAft>
                <a:spcPts val="1000"/>
              </a:spcAft>
              <a:defRPr sz="2000"/>
            </a:pPr>
            <a:r>
              <a:t>  - Focus: Optimizing timeout mechanisms.</a:t>
            </a:r>
          </a:p>
          <a:p>
            <a:pPr>
              <a:spcAft>
                <a:spcPts val="1000"/>
              </a:spcAft>
              <a:defRPr sz="2000"/>
            </a:pPr>
            <a:r>
              <a:t>  - Key Idea: Dynamic timeouts based on network load.</a:t>
            </a:r>
          </a:p>
          <a:p>
            <a:pPr>
              <a:spcAft>
                <a:spcPts val="1000"/>
              </a:spcAft>
              <a:defRPr sz="2000"/>
            </a:pPr>
            <a:r>
              <a:t>  - Relevance: Validates use of Jitter/Adaptive timeouts.</a:t>
            </a:r>
          </a:p>
          <a:p>
            <a:pPr>
              <a:spcAft>
                <a:spcPts val="1000"/>
              </a:spcAft>
              <a:defRPr sz="2000"/>
            </a:pPr>
          </a:p>
          <a:p>
            <a:pPr>
              <a:spcAft>
                <a:spcPts val="1000"/>
              </a:spcAft>
              <a:defRPr sz="2000"/>
            </a:pPr>
            <a:r>
              <a:t>* Near-Optimal Knowledge-Free Resilient Election (2022)</a:t>
            </a:r>
          </a:p>
          <a:p>
            <a:pPr>
              <a:spcAft>
                <a:spcPts val="1000"/>
              </a:spcAft>
              <a:defRPr sz="2000"/>
            </a:pPr>
            <a:r>
              <a:t>  - Focus: Minimal global knowledge.</a:t>
            </a:r>
          </a:p>
          <a:p>
            <a:pPr>
              <a:spcAft>
                <a:spcPts val="1000"/>
              </a:spcAft>
              <a:defRPr sz="2000"/>
            </a:pPr>
            <a:r>
              <a:t>  - Key Idea: Nodes operate without knowing total N.</a:t>
            </a:r>
          </a:p>
          <a:p>
            <a:pPr>
              <a:spcAft>
                <a:spcPts val="1000"/>
              </a:spcAft>
              <a:defRPr sz="2000"/>
            </a:pPr>
            <a:r>
              <a:t>  - Relevance: Contrasts with our fixed N=10 assumption.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Algorithms Included</a:t>
            </a:r>
          </a:p>
        </p:txBody>
      </p:sp>
      <p:sp>
        <p:nvSpPr>
          <p:cNvPr id="3" name="Content Placeholder 2"/>
          <p:cNvSpPr>
            <a:spLocks noGrp="1"/>
          </p:cNvSpPr>
          <p:nvPr>
            <p:ph idx="1"/>
          </p:nvPr>
        </p:nvSpPr>
        <p:spPr/>
        <p:txBody>
          <a:bodyPr/>
          <a:lstStyle/>
          <a:p>
            <a:pPr>
              <a:spcAft>
                <a:spcPts val="1000"/>
              </a:spcAft>
              <a:defRPr sz="2000"/>
            </a:pPr>
            <a:r>
              <a:t>* Bully Algorithm</a:t>
            </a:r>
          </a:p>
          <a:p>
            <a:pPr>
              <a:spcAft>
                <a:spcPts val="1000"/>
              </a:spcAft>
              <a:defRPr sz="2000"/>
            </a:pPr>
            <a:r>
              <a:t>  - Prioritizes highest ID.</a:t>
            </a:r>
          </a:p>
          <a:p>
            <a:pPr>
              <a:spcAft>
                <a:spcPts val="1000"/>
              </a:spcAft>
              <a:defRPr sz="2000"/>
            </a:pPr>
            <a:r>
              <a:t>  - Fast but message-heavy.</a:t>
            </a:r>
          </a:p>
          <a:p>
            <a:pPr>
              <a:spcAft>
                <a:spcPts val="1000"/>
              </a:spcAft>
              <a:defRPr sz="2000"/>
            </a:pPr>
          </a:p>
          <a:p>
            <a:pPr>
              <a:spcAft>
                <a:spcPts val="1000"/>
              </a:spcAft>
              <a:defRPr sz="2000"/>
            </a:pPr>
            <a:r>
              <a:t>* Ring Algorithm</a:t>
            </a:r>
          </a:p>
          <a:p>
            <a:pPr>
              <a:spcAft>
                <a:spcPts val="1000"/>
              </a:spcAft>
              <a:defRPr sz="2000"/>
            </a:pPr>
            <a:r>
              <a:t>  - Logical ring structure.</a:t>
            </a:r>
          </a:p>
          <a:p>
            <a:pPr>
              <a:spcAft>
                <a:spcPts val="1000"/>
              </a:spcAft>
              <a:defRPr sz="2000"/>
            </a:pPr>
            <a:r>
              <a:t>  - Message-efficient but slow.</a:t>
            </a:r>
          </a:p>
          <a:p>
            <a:pPr>
              <a:spcAft>
                <a:spcPts val="1000"/>
              </a:spcAft>
              <a:defRPr sz="2000"/>
            </a:pPr>
          </a:p>
          <a:p>
            <a:pPr>
              <a:spcAft>
                <a:spcPts val="1000"/>
              </a:spcAft>
              <a:defRPr sz="2000"/>
            </a:pPr>
            <a:r>
              <a:t>* Raft Election</a:t>
            </a:r>
          </a:p>
          <a:p>
            <a:pPr>
              <a:spcAft>
                <a:spcPts val="1000"/>
              </a:spcAft>
              <a:defRPr sz="2000"/>
            </a:pPr>
            <a:r>
              <a:t>  - Majority consensus.</a:t>
            </a:r>
          </a:p>
          <a:p>
            <a:pPr>
              <a:spcAft>
                <a:spcPts val="1000"/>
              </a:spcAft>
              <a:defRPr sz="2000"/>
            </a:pPr>
            <a:r>
              <a:t>  - Robust against partitions.</a:t>
            </a:r>
          </a:p>
          <a:p>
            <a:pPr>
              <a:spcAft>
                <a:spcPts val="1000"/>
              </a:spcAft>
              <a:defRPr sz="2000"/>
            </a:pPr>
          </a:p>
          <a:p>
            <a:pPr>
              <a:spcAft>
                <a:spcPts val="1000"/>
              </a:spcAft>
              <a:defRPr sz="2000"/>
            </a:pPr>
            <a:r>
              <a:t>* Multi-Attribute (New)</a:t>
            </a:r>
          </a:p>
          <a:p>
            <a:pPr>
              <a:spcAft>
                <a:spcPts val="1000"/>
              </a:spcAft>
              <a:defRPr sz="2000"/>
            </a:pPr>
            <a:r>
              <a:t>  - Score = f(Battery, CPU).</a:t>
            </a:r>
          </a:p>
          <a:p>
            <a:pPr>
              <a:spcAft>
                <a:spcPts val="1000"/>
              </a:spcAft>
              <a:defRPr sz="2000"/>
            </a:pPr>
            <a:r>
              <a:t>  - Broadcast-based bullying.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Implemented Work</a:t>
            </a:r>
          </a:p>
        </p:txBody>
      </p:sp>
      <p:sp>
        <p:nvSpPr>
          <p:cNvPr id="3" name="Content Placeholder 2"/>
          <p:cNvSpPr>
            <a:spLocks noGrp="1"/>
          </p:cNvSpPr>
          <p:nvPr>
            <p:ph idx="1"/>
          </p:nvPr>
        </p:nvSpPr>
        <p:spPr/>
        <p:txBody>
          <a:bodyPr/>
          <a:lstStyle/>
          <a:p>
            <a:pPr>
              <a:spcAft>
                <a:spcPts val="1000"/>
              </a:spcAft>
              <a:defRPr sz="2000"/>
            </a:pPr>
            <a:r>
              <a:t>* Implemented Algorithms: Bully, Ring, Raft, Multi-Attr</a:t>
            </a:r>
          </a:p>
          <a:p>
            <a:pPr>
              <a:spcAft>
                <a:spcPts val="1000"/>
              </a:spcAft>
              <a:defRPr sz="2000"/>
            </a:pPr>
            <a:r>
              <a:t>* Standardized Test Scenario:</a:t>
            </a:r>
          </a:p>
          <a:p>
            <a:pPr>
              <a:spcAft>
                <a:spcPts val="1000"/>
              </a:spcAft>
              <a:defRPr sz="2000"/>
            </a:pPr>
            <a:r>
              <a:t>  - Crash-Recovery</a:t>
            </a:r>
          </a:p>
          <a:p>
            <a:pPr>
              <a:spcAft>
                <a:spcPts val="1000"/>
              </a:spcAft>
              <a:defRPr sz="2000"/>
            </a:pPr>
            <a:r>
              <a:t>  - Network Partitions</a:t>
            </a:r>
          </a:p>
          <a:p>
            <a:pPr>
              <a:spcAft>
                <a:spcPts val="1000"/>
              </a:spcAft>
              <a:defRPr sz="2000"/>
            </a:pPr>
            <a:r>
              <a:t>* Metrics Measured:</a:t>
            </a:r>
          </a:p>
          <a:p>
            <a:pPr>
              <a:spcAft>
                <a:spcPts val="1000"/>
              </a:spcAft>
              <a:defRPr sz="2000"/>
            </a:pPr>
            <a:r>
              <a:t>  - Election &amp; Re-election Latency (P50/P95)</a:t>
            </a:r>
          </a:p>
          <a:p>
            <a:pPr>
              <a:spcAft>
                <a:spcPts val="1000"/>
              </a:spcAft>
              <a:defRPr sz="2000"/>
            </a:pPr>
            <a:r>
              <a:t>  - Message Counts (Per phase)</a:t>
            </a:r>
          </a:p>
          <a:p>
            <a:pPr>
              <a:spcAft>
                <a:spcPts val="1000"/>
              </a:spcAft>
              <a:defRPr sz="2000"/>
            </a:pPr>
            <a:r>
              <a:t>  - Success Rate (Partition tolerance)</a:t>
            </a:r>
          </a:p>
          <a:p>
            <a:pPr>
              <a:spcAft>
                <a:spcPts val="1000"/>
              </a:spcAft>
              <a:defRPr sz="2000"/>
            </a:pPr>
            <a:r>
              <a:t>* Comparative Analysis: Multi-seed statistical trials.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pPr>
              <a:spcAft>
                <a:spcPts val="1000"/>
              </a:spcAft>
              <a:defRPr sz="2000"/>
            </a:pPr>
            <a:r>
              <a:t>* Simulator: Single-process, event-driven</a:t>
            </a:r>
          </a:p>
          <a:p>
            <a:pPr>
              <a:spcAft>
                <a:spcPts val="1000"/>
              </a:spcAft>
              <a:defRPr sz="2000"/>
            </a:pPr>
            <a:r>
              <a:t>* Network Model:</a:t>
            </a:r>
          </a:p>
          <a:p>
            <a:pPr>
              <a:spcAft>
                <a:spcPts val="1000"/>
              </a:spcAft>
              <a:defRPr sz="2000"/>
            </a:pPr>
            <a:r>
              <a:t>  - 10 Nodes</a:t>
            </a:r>
          </a:p>
          <a:p>
            <a:pPr>
              <a:spcAft>
                <a:spcPts val="1000"/>
              </a:spcAft>
              <a:defRPr sz="2000"/>
            </a:pPr>
            <a:r>
              <a:t>  - 50ms Latency + 10ms Jitter</a:t>
            </a:r>
          </a:p>
          <a:p>
            <a:pPr>
              <a:spcAft>
                <a:spcPts val="1000"/>
              </a:spcAft>
              <a:defRPr sz="2000"/>
            </a:pPr>
            <a:r>
              <a:t>  - 5% Probabilistic Message Loss</a:t>
            </a:r>
          </a:p>
          <a:p>
            <a:pPr>
              <a:spcAft>
                <a:spcPts val="1000"/>
              </a:spcAft>
              <a:defRPr sz="2000"/>
            </a:pPr>
            <a:r>
              <a:t>* Events:</a:t>
            </a:r>
          </a:p>
          <a:p>
            <a:pPr>
              <a:spcAft>
                <a:spcPts val="1000"/>
              </a:spcAft>
              <a:defRPr sz="2000"/>
            </a:pPr>
            <a:r>
              <a:t>  - Crash @ t=2.0s</a:t>
            </a:r>
          </a:p>
          <a:p>
            <a:pPr>
              <a:spcAft>
                <a:spcPts val="1000"/>
              </a:spcAft>
              <a:defRPr sz="2000"/>
            </a:pPr>
            <a:r>
              <a:t>  - Partition @ t=2.5s - 4.0s</a:t>
            </a:r>
          </a:p>
          <a:p>
            <a:pPr>
              <a:spcAft>
                <a:spcPts val="1000"/>
              </a:spcAft>
              <a:defRPr sz="2000"/>
            </a:pPr>
            <a:r>
              <a:t>  - Restart @ t=3.0s</a:t>
            </a:r>
          </a:p>
          <a:p>
            <a:pPr>
              <a:spcAft>
                <a:spcPts val="1000"/>
              </a:spcAft>
              <a:defRPr sz="2000"/>
            </a:pPr>
            <a:r>
              <a:t>* Data Collection: Multi-seed trials (5 runs) for statistical significance.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Simulator Architecture</a:t>
            </a:r>
          </a:p>
        </p:txBody>
      </p:sp>
      <p:sp>
        <p:nvSpPr>
          <p:cNvPr id="3" name="Content Placeholder 2"/>
          <p:cNvSpPr>
            <a:spLocks noGrp="1"/>
          </p:cNvSpPr>
          <p:nvPr>
            <p:ph idx="1"/>
          </p:nvPr>
        </p:nvSpPr>
        <p:spPr/>
        <p:txBody>
          <a:bodyPr/>
          <a:lstStyle/>
          <a:p>
            <a:pPr>
              <a:spcAft>
                <a:spcPts val="1000"/>
              </a:spcAft>
              <a:defRPr sz="2000"/>
            </a:pPr>
            <a:r>
              <a:t>* Node Module: Algorithm logic (Bully, Ring, Raft, Multi-Attr)</a:t>
            </a:r>
          </a:p>
          <a:p>
            <a:pPr>
              <a:spcAft>
                <a:spcPts val="1000"/>
              </a:spcAft>
              <a:defRPr sz="2000"/>
            </a:pPr>
            <a:r>
              <a:t>* Event Scheduler: Priority queue for timed events</a:t>
            </a:r>
          </a:p>
          <a:p>
            <a:pPr>
              <a:spcAft>
                <a:spcPts val="1000"/>
              </a:spcAft>
              <a:defRPr sz="2000"/>
            </a:pPr>
            <a:r>
              <a:t>* Fault Injector: Crashes, Restarts, Packet Loss</a:t>
            </a:r>
          </a:p>
          <a:p>
            <a:pPr>
              <a:spcAft>
                <a:spcPts val="1000"/>
              </a:spcAft>
              <a:defRPr sz="2000"/>
            </a:pPr>
            <a:r>
              <a:t>* Partition Manager: Simulates network cuts/groups</a:t>
            </a:r>
          </a:p>
          <a:p>
            <a:pPr>
              <a:spcAft>
                <a:spcPts val="1000"/>
              </a:spcAft>
              <a:defRPr sz="2000"/>
            </a:pPr>
            <a:r>
              <a:t>* Message Bus: Models communication with jitter</a:t>
            </a:r>
          </a:p>
          <a:p>
            <a:pPr>
              <a:spcAft>
                <a:spcPts val="1000"/>
              </a:spcAft>
              <a:defRPr sz="2000"/>
            </a:pPr>
            <a:r>
              <a:t>* Monitoring System: Collects P50/P95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Experimental Setup</a:t>
            </a:r>
          </a:p>
        </p:txBody>
      </p:sp>
      <p:sp>
        <p:nvSpPr>
          <p:cNvPr id="3" name="Content Placeholder 2"/>
          <p:cNvSpPr>
            <a:spLocks noGrp="1"/>
          </p:cNvSpPr>
          <p:nvPr>
            <p:ph idx="1"/>
          </p:nvPr>
        </p:nvSpPr>
        <p:spPr/>
        <p:txBody>
          <a:bodyPr/>
          <a:lstStyle/>
          <a:p>
            <a:pPr>
              <a:spcAft>
                <a:spcPts val="1000"/>
              </a:spcAft>
              <a:defRPr sz="2000"/>
            </a:pPr>
            <a:r>
              <a:t>* Configuration:</a:t>
            </a:r>
          </a:p>
          <a:p>
            <a:pPr>
              <a:spcAft>
                <a:spcPts val="1000"/>
              </a:spcAft>
              <a:defRPr sz="2000"/>
            </a:pPr>
            <a:r>
              <a:t>  - 10 Nodes</a:t>
            </a:r>
          </a:p>
          <a:p>
            <a:pPr>
              <a:spcAft>
                <a:spcPts val="1000"/>
              </a:spcAft>
              <a:defRPr sz="2000"/>
            </a:pPr>
            <a:r>
              <a:t>  - Latency: 50ms +/- 10ms</a:t>
            </a:r>
          </a:p>
          <a:p>
            <a:pPr>
              <a:spcAft>
                <a:spcPts val="1000"/>
              </a:spcAft>
              <a:defRPr sz="2000"/>
            </a:pPr>
            <a:r>
              <a:t>  - Packet Loss: 5%</a:t>
            </a:r>
          </a:p>
          <a:p>
            <a:pPr>
              <a:spcAft>
                <a:spcPts val="1000"/>
              </a:spcAft>
              <a:defRPr sz="2000"/>
            </a:pPr>
            <a:r>
              <a:t>* Timeline:</a:t>
            </a:r>
          </a:p>
          <a:p>
            <a:pPr>
              <a:spcAft>
                <a:spcPts val="1000"/>
              </a:spcAft>
              <a:defRPr sz="2000"/>
            </a:pPr>
            <a:r>
              <a:t>  - t=0.0s: Start</a:t>
            </a:r>
          </a:p>
          <a:p>
            <a:pPr>
              <a:spcAft>
                <a:spcPts val="1000"/>
              </a:spcAft>
              <a:defRPr sz="2000"/>
            </a:pPr>
            <a:r>
              <a:t>  - t=2.0s: Leader Crash</a:t>
            </a:r>
          </a:p>
          <a:p>
            <a:pPr>
              <a:spcAft>
                <a:spcPts val="1000"/>
              </a:spcAft>
              <a:defRPr sz="2000"/>
            </a:pPr>
            <a:r>
              <a:t>  - t=2.5s: Network Partition (Groups: [0-4], [5-9])</a:t>
            </a:r>
          </a:p>
          <a:p>
            <a:pPr>
              <a:spcAft>
                <a:spcPts val="1000"/>
              </a:spcAft>
              <a:defRPr sz="2000"/>
            </a:pPr>
            <a:r>
              <a:t>  - t=3.0s: Leader Restart</a:t>
            </a:r>
          </a:p>
          <a:p>
            <a:pPr>
              <a:spcAft>
                <a:spcPts val="1000"/>
              </a:spcAft>
              <a:defRPr sz="2000"/>
            </a:pPr>
            <a:r>
              <a:t>  - t=4.0s: Partition Heals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Simulation Results (P50)</a:t>
            </a:r>
          </a:p>
        </p:txBody>
      </p:sp>
      <p:sp>
        <p:nvSpPr>
          <p:cNvPr id="3" name="Content Placeholder 2"/>
          <p:cNvSpPr>
            <a:spLocks noGrp="1"/>
          </p:cNvSpPr>
          <p:nvPr>
            <p:ph idx="1"/>
          </p:nvPr>
        </p:nvSpPr>
        <p:spPr/>
        <p:txBody>
          <a:bodyPr/>
          <a:lstStyle/>
          <a:p>
            <a:pPr>
              <a:spcAft>
                <a:spcPts val="1000"/>
              </a:spcAft>
              <a:defRPr sz="2000"/>
            </a:pPr>
            <a:r>
              <a:t>Bully:</a:t>
            </a:r>
          </a:p>
          <a:p>
            <a:pPr>
              <a:spcAft>
                <a:spcPts val="1000"/>
              </a:spcAft>
              <a:defRPr sz="2000"/>
            </a:pPr>
            <a:r>
              <a:t>* Elec: 0.05s | Re-elec: 0.81s | Msgs: ~1168 | Success: 5/5</a:t>
            </a:r>
          </a:p>
          <a:p>
            <a:pPr>
              <a:spcAft>
                <a:spcPts val="1000"/>
              </a:spcAft>
              <a:defRPr sz="2000"/>
            </a:pPr>
          </a:p>
          <a:p>
            <a:pPr>
              <a:spcAft>
                <a:spcPts val="1000"/>
              </a:spcAft>
              <a:defRPr sz="2000"/>
            </a:pPr>
            <a:r>
              <a:t>Ring:</a:t>
            </a:r>
          </a:p>
          <a:p>
            <a:pPr>
              <a:spcAft>
                <a:spcPts val="1000"/>
              </a:spcAft>
              <a:defRPr sz="2000"/>
            </a:pPr>
            <a:r>
              <a:t>* Elec: 2.00s | Re-elec: 3.01s | Msgs: ~463 | Success: 1/5</a:t>
            </a:r>
          </a:p>
          <a:p>
            <a:pPr>
              <a:spcAft>
                <a:spcPts val="1000"/>
              </a:spcAft>
              <a:defRPr sz="2000"/>
            </a:pPr>
          </a:p>
          <a:p>
            <a:pPr>
              <a:spcAft>
                <a:spcPts val="1000"/>
              </a:spcAft>
              <a:defRPr sz="2000"/>
            </a:pPr>
            <a:r>
              <a:t>Raft:</a:t>
            </a:r>
          </a:p>
          <a:p>
            <a:pPr>
              <a:spcAft>
                <a:spcPts val="1000"/>
              </a:spcAft>
              <a:defRPr sz="2000"/>
            </a:pPr>
            <a:r>
              <a:t>* Elec: 0.11s | Re-elec: 2.29s | Msgs: ~284 | Success: 5/5</a:t>
            </a:r>
          </a:p>
          <a:p>
            <a:pPr>
              <a:spcAft>
                <a:spcPts val="1000"/>
              </a:spcAft>
              <a:defRPr sz="2000"/>
            </a:pPr>
          </a:p>
          <a:p>
            <a:pPr>
              <a:spcAft>
                <a:spcPts val="1000"/>
              </a:spcAft>
              <a:defRPr sz="2000"/>
            </a:pPr>
            <a:r>
              <a:t>Multi-Attribute (New):</a:t>
            </a:r>
          </a:p>
          <a:p>
            <a:pPr>
              <a:spcAft>
                <a:spcPts val="1000"/>
              </a:spcAft>
              <a:defRPr sz="2000"/>
            </a:pPr>
            <a:r>
              <a:t>* Elec: 0.35s | Re-elec: 0.73s | Msgs: ~573 | Success: 5/5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Patterns</a:t>
            </a:r>
          </a:p>
        </p:txBody>
      </p:sp>
      <p:sp>
        <p:nvSpPr>
          <p:cNvPr id="3" name="Content Placeholder 2"/>
          <p:cNvSpPr>
            <a:spLocks noGrp="1"/>
          </p:cNvSpPr>
          <p:nvPr>
            <p:ph idx="1"/>
          </p:nvPr>
        </p:nvSpPr>
        <p:spPr/>
        <p:txBody>
          <a:bodyPr/>
          <a:lstStyle/>
          <a:p>
            <a:pPr>
              <a:spcAft>
                <a:spcPts val="1000"/>
              </a:spcAft>
              <a:defRPr sz="2000"/>
            </a:pPr>
            <a:r>
              <a:t>* Speed: Multi-Attribute is fastest at Re-election.</a:t>
            </a:r>
          </a:p>
          <a:p>
            <a:pPr>
              <a:spcAft>
                <a:spcPts val="1000"/>
              </a:spcAft>
              <a:defRPr sz="2000"/>
            </a:pPr>
            <a:r>
              <a:t>* Efficiency: Raft is most efficient (Fewest messages).</a:t>
            </a:r>
          </a:p>
          <a:p>
            <a:pPr>
              <a:spcAft>
                <a:spcPts val="1000"/>
              </a:spcAft>
              <a:defRPr sz="2000"/>
            </a:pPr>
            <a:r>
              <a:t>* Resilience:</a:t>
            </a:r>
          </a:p>
          <a:p>
            <a:pPr>
              <a:spcAft>
                <a:spcPts val="1000"/>
              </a:spcAft>
              <a:defRPr sz="2000"/>
            </a:pPr>
            <a:r>
              <a:t>  - Raft, Bully, Multi-Attr: High (Handled partitions).</a:t>
            </a:r>
          </a:p>
          <a:p>
            <a:pPr>
              <a:spcAft>
                <a:spcPts val="1000"/>
              </a:spcAft>
              <a:defRPr sz="2000"/>
            </a:pPr>
            <a:r>
              <a:t>  - Ring: Low (Circuit broken by partition).</a:t>
            </a:r>
          </a:p>
          <a:p>
            <a:pPr>
              <a:spcAft>
                <a:spcPts val="1000"/>
              </a:spcAft>
              <a:defRPr sz="2000"/>
            </a:pPr>
            <a:r>
              <a:t>* Innovation:</a:t>
            </a:r>
          </a:p>
          <a:p>
            <a:pPr>
              <a:spcAft>
                <a:spcPts val="1000"/>
              </a:spcAft>
              <a:defRPr sz="2000"/>
            </a:pPr>
            <a:r>
              <a:t>  - Multi-Attr beats Bully in efficiency &amp; speed.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Analysis</a:t>
            </a:r>
          </a:p>
        </p:txBody>
      </p:sp>
      <p:sp>
        <p:nvSpPr>
          <p:cNvPr id="3" name="Content Placeholder 2"/>
          <p:cNvSpPr>
            <a:spLocks noGrp="1"/>
          </p:cNvSpPr>
          <p:nvPr>
            <p:ph idx="1"/>
          </p:nvPr>
        </p:nvSpPr>
        <p:spPr/>
        <p:txBody>
          <a:bodyPr/>
          <a:lstStyle/>
          <a:p>
            <a:pPr>
              <a:spcAft>
                <a:spcPts val="1000"/>
              </a:spcAft>
              <a:defRPr sz="2000"/>
            </a:pPr>
            <a:r>
              <a:t>* Bully:</a:t>
            </a:r>
          </a:p>
          <a:p>
            <a:pPr>
              <a:spcAft>
                <a:spcPts val="1000"/>
              </a:spcAft>
              <a:defRPr sz="2000"/>
            </a:pPr>
            <a:r>
              <a:t>  - Fast but chatty (O(n^2)).</a:t>
            </a:r>
          </a:p>
          <a:p>
            <a:pPr>
              <a:spcAft>
                <a:spcPts val="1000"/>
              </a:spcAft>
              <a:defRPr sz="2000"/>
            </a:pPr>
            <a:r>
              <a:t>* Ring:</a:t>
            </a:r>
          </a:p>
          <a:p>
            <a:pPr>
              <a:spcAft>
                <a:spcPts val="1000"/>
              </a:spcAft>
              <a:defRPr sz="2000"/>
            </a:pPr>
            <a:r>
              <a:t>  - Fragile in partitions.</a:t>
            </a:r>
          </a:p>
          <a:p>
            <a:pPr>
              <a:spcAft>
                <a:spcPts val="1000"/>
              </a:spcAft>
              <a:defRPr sz="2000"/>
            </a:pPr>
            <a:r>
              <a:t>* Raft:</a:t>
            </a:r>
          </a:p>
          <a:p>
            <a:pPr>
              <a:spcAft>
                <a:spcPts val="1000"/>
              </a:spcAft>
              <a:defRPr sz="2000"/>
            </a:pPr>
            <a:r>
              <a:t>  - Optimal balance &amp; safety.</a:t>
            </a:r>
          </a:p>
          <a:p>
            <a:pPr>
              <a:spcAft>
                <a:spcPts val="1000"/>
              </a:spcAft>
              <a:defRPr sz="2000"/>
            </a:pPr>
            <a:r>
              <a:t>* Multi-Attribute (New):</a:t>
            </a:r>
          </a:p>
          <a:p>
            <a:pPr>
              <a:spcAft>
                <a:spcPts val="1000"/>
              </a:spcAft>
              <a:defRPr sz="2000"/>
            </a:pPr>
            <a:r>
              <a:t>  - Superior to Bully.</a:t>
            </a:r>
          </a:p>
          <a:p>
            <a:pPr>
              <a:spcAft>
                <a:spcPts val="1000"/>
              </a:spcAft>
              <a:defRPr sz="2000"/>
            </a:pPr>
            <a:r>
              <a:t>  - 50% fewer messages.</a:t>
            </a:r>
          </a:p>
          <a:p>
            <a:pPr>
              <a:spcAft>
                <a:spcPts val="1000"/>
              </a:spcAft>
              <a:defRPr sz="2000"/>
            </a:pPr>
            <a:r>
              <a:t>  - Faster recovery (0.73s vs 0.81s).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Contributions</a:t>
            </a:r>
          </a:p>
        </p:txBody>
      </p:sp>
      <p:sp>
        <p:nvSpPr>
          <p:cNvPr id="3" name="Content Placeholder 2"/>
          <p:cNvSpPr>
            <a:spLocks noGrp="1"/>
          </p:cNvSpPr>
          <p:nvPr>
            <p:ph idx="1"/>
          </p:nvPr>
        </p:nvSpPr>
        <p:spPr/>
        <p:txBody>
          <a:bodyPr/>
          <a:lstStyle/>
          <a:p>
            <a:pPr>
              <a:spcAft>
                <a:spcPts val="1000"/>
              </a:spcAft>
              <a:defRPr sz="2000"/>
            </a:pPr>
            <a:r>
              <a:t>* Ishank:</a:t>
            </a:r>
          </a:p>
          <a:p>
            <a:pPr>
              <a:spcAft>
                <a:spcPts val="1000"/>
              </a:spcAft>
              <a:defRPr sz="2000"/>
            </a:pPr>
            <a:r>
              <a:t>  - Simulator Core &amp; Raft Implementation.</a:t>
            </a:r>
          </a:p>
          <a:p>
            <a:pPr>
              <a:spcAft>
                <a:spcPts val="1000"/>
              </a:spcAft>
              <a:defRPr sz="2000"/>
            </a:pPr>
            <a:r>
              <a:t>  - Added Jitter, Packet Loss, and Partition logic.</a:t>
            </a:r>
          </a:p>
          <a:p>
            <a:pPr>
              <a:spcAft>
                <a:spcPts val="1000"/>
              </a:spcAft>
              <a:defRPr sz="2000"/>
            </a:pPr>
            <a:r>
              <a:t>  - Statistical Analysis (P50/P95).</a:t>
            </a:r>
          </a:p>
          <a:p>
            <a:pPr>
              <a:spcAft>
                <a:spcPts val="1000"/>
              </a:spcAft>
              <a:defRPr sz="2000"/>
            </a:pPr>
            <a:r>
              <a:t>* Srilalitha:</a:t>
            </a:r>
          </a:p>
          <a:p>
            <a:pPr>
              <a:spcAft>
                <a:spcPts val="1000"/>
              </a:spcAft>
              <a:defRPr sz="2000"/>
            </a:pPr>
            <a:r>
              <a:t>  - Evaluation Framework &amp; Monitoring.</a:t>
            </a:r>
          </a:p>
          <a:p>
            <a:pPr>
              <a:spcAft>
                <a:spcPts val="1000"/>
              </a:spcAft>
              <a:defRPr sz="2000"/>
            </a:pPr>
            <a:r>
              <a:t>  - Comparative Testing &amp; Results Visualization.</a:t>
            </a:r>
          </a:p>
          <a:p>
            <a:pPr>
              <a:spcAft>
                <a:spcPts val="1000"/>
              </a:spcAft>
              <a:defRPr sz="2000"/>
            </a:pPr>
            <a:r>
              <a:t>* Prerana:</a:t>
            </a:r>
          </a:p>
          <a:p>
            <a:pPr>
              <a:spcAft>
                <a:spcPts val="1000"/>
              </a:spcAft>
              <a:defRPr sz="2000"/>
            </a:pPr>
            <a:r>
              <a:t>  - Crash-Recovery Logic &amp; Ring Repair.</a:t>
            </a:r>
          </a:p>
          <a:p>
            <a:pPr>
              <a:spcAft>
                <a:spcPts val="1000"/>
              </a:spcAft>
              <a:defRPr sz="2000"/>
            </a:pPr>
            <a:r>
              <a:t>  - Literature Review &amp; Multi-Attribute Algo.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Difficulties &amp; Solutions</a:t>
            </a:r>
          </a:p>
        </p:txBody>
      </p:sp>
      <p:sp>
        <p:nvSpPr>
          <p:cNvPr id="3" name="Content Placeholder 2"/>
          <p:cNvSpPr>
            <a:spLocks noGrp="1"/>
          </p:cNvSpPr>
          <p:nvPr>
            <p:ph idx="1"/>
          </p:nvPr>
        </p:nvSpPr>
        <p:spPr/>
        <p:txBody>
          <a:bodyPr/>
          <a:lstStyle/>
          <a:p>
            <a:pPr>
              <a:spcAft>
                <a:spcPts val="1000"/>
              </a:spcAft>
              <a:defRPr sz="2000"/>
            </a:pPr>
            <a:r>
              <a:t>* Challenges:</a:t>
            </a:r>
          </a:p>
          <a:p>
            <a:pPr>
              <a:spcAft>
                <a:spcPts val="1000"/>
              </a:spcAft>
              <a:defRPr sz="2000"/>
            </a:pPr>
            <a:r>
              <a:t>  - Timing Precision: Handling jitter and random delays.</a:t>
            </a:r>
          </a:p>
          <a:p>
            <a:pPr>
              <a:spcAft>
                <a:spcPts val="1000"/>
              </a:spcAft>
              <a:defRPr sz="2000"/>
            </a:pPr>
            <a:r>
              <a:t>  - Partitions: Ring algorithm failed to recover token.</a:t>
            </a:r>
          </a:p>
          <a:p>
            <a:pPr>
              <a:spcAft>
                <a:spcPts val="1000"/>
              </a:spcAft>
              <a:defRPr sz="2000"/>
            </a:pPr>
            <a:r>
              <a:t>  - Failure Detection: Replaced "magic" detection with Heartbeats.</a:t>
            </a:r>
          </a:p>
          <a:p>
            <a:pPr>
              <a:spcAft>
                <a:spcPts val="1000"/>
              </a:spcAft>
              <a:defRPr sz="2000"/>
            </a:pPr>
            <a:r>
              <a:t>* Solutions:</a:t>
            </a:r>
          </a:p>
          <a:p>
            <a:pPr>
              <a:spcAft>
                <a:spcPts val="1000"/>
              </a:spcAft>
              <a:defRPr sz="2000"/>
            </a:pPr>
            <a:r>
              <a:t>  - Implemented robust timeout logic (Tick mechanism).</a:t>
            </a:r>
          </a:p>
          <a:p>
            <a:pPr>
              <a:spcAft>
                <a:spcPts val="1000"/>
              </a:spcAft>
              <a:defRPr sz="2000"/>
            </a:pPr>
            <a:r>
              <a:t>  - Added Ring Repair probes.</a:t>
            </a:r>
          </a:p>
          <a:p>
            <a:pPr>
              <a:spcAft>
                <a:spcPts val="1000"/>
              </a:spcAft>
              <a:defRPr sz="2000"/>
            </a:pPr>
            <a:r>
              <a:t>  - Used Multi-seed trials to smooth out variance.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pPr>
              <a:spcAft>
                <a:spcPts val="1000"/>
              </a:spcAft>
              <a:defRPr sz="2000"/>
            </a:pPr>
            <a:r>
              <a:t>* Completed Phase 2:</a:t>
            </a:r>
          </a:p>
          <a:p>
            <a:pPr>
              <a:spcAft>
                <a:spcPts val="1000"/>
              </a:spcAft>
              <a:defRPr sz="2000"/>
            </a:pPr>
            <a:r>
              <a:t>  - Jitter, Packet Loss, Partitions (Done).</a:t>
            </a:r>
          </a:p>
          <a:p>
            <a:pPr>
              <a:spcAft>
                <a:spcPts val="1000"/>
              </a:spcAft>
              <a:defRPr sz="2000"/>
            </a:pPr>
            <a:r>
              <a:t>  - Multi-seed P50/P95 Analysis (Done).</a:t>
            </a:r>
          </a:p>
          <a:p>
            <a:pPr>
              <a:spcAft>
                <a:spcPts val="1000"/>
              </a:spcAft>
              <a:defRPr sz="2000"/>
            </a:pPr>
            <a:r>
              <a:t>  - Multi-Attribute Implementation (Done).</a:t>
            </a:r>
          </a:p>
          <a:p>
            <a:pPr>
              <a:spcAft>
                <a:spcPts val="1000"/>
              </a:spcAft>
              <a:defRPr sz="2000"/>
            </a:pPr>
            <a:r>
              <a:t>* Next Steps:</a:t>
            </a:r>
          </a:p>
          <a:p>
            <a:pPr>
              <a:spcAft>
                <a:spcPts val="1000"/>
              </a:spcAft>
              <a:defRPr sz="2000"/>
            </a:pPr>
            <a:r>
              <a:t>  - Byzantine Fault Tolerance (BFT).</a:t>
            </a:r>
          </a:p>
          <a:p>
            <a:pPr>
              <a:spcAft>
                <a:spcPts val="1000"/>
              </a:spcAft>
              <a:defRPr sz="2000"/>
            </a:pPr>
            <a:r>
              <a:t>  - Scalability testing (100+ nodes).</a:t>
            </a:r>
          </a:p>
          <a:p>
            <a:pPr>
              <a:spcAft>
                <a:spcPts val="1000"/>
              </a:spcAft>
              <a:defRPr sz="2000"/>
            </a:pPr>
            <a:r>
              <a:t>  - Formal verification of protocol correctness.</a:t>
            </a:r>
          </a:p>
          <a:p>
            <a:pPr>
              <a:spcAft>
                <a:spcPts val="1000"/>
              </a:spcAft>
              <a:defRPr sz="2000"/>
            </a:pPr>
            <a:r>
              <a:t>  - Dynamic membership changes.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pPr>
              <a:spcAft>
                <a:spcPts val="1000"/>
              </a:spcAft>
              <a:defRPr sz="2000"/>
            </a:pPr>
            <a:r>
              <a:t>* Implemented &amp; Benchmarked: Bully, Ring, Raft, Multi-Attr.</a:t>
            </a:r>
          </a:p>
          <a:p>
            <a:pPr>
              <a:spcAft>
                <a:spcPts val="1000"/>
              </a:spcAft>
              <a:defRPr sz="2000"/>
            </a:pPr>
            <a:r>
              <a:t>* Realistic Conditions:</a:t>
            </a:r>
          </a:p>
          <a:p>
            <a:pPr>
              <a:spcAft>
                <a:spcPts val="1000"/>
              </a:spcAft>
              <a:defRPr sz="2000"/>
            </a:pPr>
            <a:r>
              <a:t>  - Crash-Recovery, Partitions, Jitter, Loss.</a:t>
            </a:r>
          </a:p>
          <a:p>
            <a:pPr>
              <a:spcAft>
                <a:spcPts val="1000"/>
              </a:spcAft>
              <a:defRPr sz="2000"/>
            </a:pPr>
            <a:r>
              <a:t>* Key Findings:</a:t>
            </a:r>
          </a:p>
          <a:p>
            <a:pPr>
              <a:spcAft>
                <a:spcPts val="1000"/>
              </a:spcAft>
              <a:defRPr sz="2000"/>
            </a:pPr>
            <a:r>
              <a:t>  - Raft is most robust.</a:t>
            </a:r>
          </a:p>
          <a:p>
            <a:pPr>
              <a:spcAft>
                <a:spcPts val="1000"/>
              </a:spcAft>
              <a:defRPr sz="2000"/>
            </a:pPr>
            <a:r>
              <a:t>  - Multi-Attribute is fastest &amp; efficient.</a:t>
            </a:r>
          </a:p>
          <a:p>
            <a:pPr>
              <a:spcAft>
                <a:spcPts val="1000"/>
              </a:spcAft>
              <a:defRPr sz="2000"/>
            </a:pPr>
            <a:r>
              <a:t>* Outcome: A comprehensive simulator + New Algorithm.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